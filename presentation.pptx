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6858000" cy="9144000"/>
  <p:embeddedFontLs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8922786" y="301162"/>
            <a:ext cx="442427" cy="442427"/>
          </a:xfrm>
          <a:custGeom>
            <a:avLst/>
            <a:gdLst/>
            <a:ahLst/>
            <a:cxnLst/>
            <a:rect l="l" t="t" r="r" b="b"/>
            <a:pathLst>
              <a:path w="442427" h="442427">
                <a:moveTo>
                  <a:pt x="0" y="0"/>
                </a:moveTo>
                <a:lnTo>
                  <a:pt x="442428" y="0"/>
                </a:lnTo>
                <a:lnTo>
                  <a:pt x="442428" y="442427"/>
                </a:lnTo>
                <a:lnTo>
                  <a:pt x="0" y="44242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22786" y="9565180"/>
            <a:ext cx="442427" cy="442427"/>
          </a:xfrm>
          <a:custGeom>
            <a:avLst/>
            <a:gdLst/>
            <a:ahLst/>
            <a:cxnLst/>
            <a:rect l="l" t="t" r="r" b="b"/>
            <a:pathLst>
              <a:path w="442427" h="442427">
                <a:moveTo>
                  <a:pt x="0" y="0"/>
                </a:moveTo>
                <a:lnTo>
                  <a:pt x="442428" y="0"/>
                </a:lnTo>
                <a:lnTo>
                  <a:pt x="442428" y="442427"/>
                </a:lnTo>
                <a:lnTo>
                  <a:pt x="0" y="44242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381000" y="647700"/>
            <a:ext cx="17426940" cy="2145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65"/>
              </a:lnSpc>
            </a:pPr>
            <a:r>
              <a:rPr lang="en-US" altLang="zh-CN" sz="4400" b="1">
                <a:solidFill>
                  <a:srgbClr val="1F1E1E"/>
                </a:solidFill>
                <a:latin typeface="TAN Mon Cheri"/>
                <a:ea typeface="TAN Mon Cheri"/>
                <a:cs typeface="TAN Mon Cheri"/>
                <a:sym typeface="TAN Mon Cheri"/>
              </a:rPr>
              <a:t>A Cost-Aware Hybrid LLM Pipeline for Municipal Permit Data  Normalization</a:t>
            </a:r>
            <a:endParaRPr lang="en-US" altLang="zh-CN" sz="4400" b="1">
              <a:solidFill>
                <a:srgbClr val="1F1E1E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91000" y="5448300"/>
            <a:ext cx="9144000" cy="3309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ts val="8365"/>
              </a:lnSpc>
              <a:buClrTx/>
              <a:buSzTx/>
              <a:buFontTx/>
            </a:pPr>
            <a:r>
              <a:rPr lang="en-US" altLang="zh-CN" sz="4400" b="1">
                <a:solidFill>
                  <a:srgbClr val="1F1E1E"/>
                </a:solidFill>
                <a:latin typeface="TAN Mon Cheri"/>
                <a:ea typeface="TAN Mon Cheri"/>
                <a:cs typeface="TAN Mon Cheri"/>
                <a:sym typeface="+mn-ea"/>
              </a:rPr>
              <a:t>J</a:t>
            </a:r>
            <a:r>
              <a:rPr lang="en-US" altLang="zh-CN" sz="4400" b="1">
                <a:solidFill>
                  <a:srgbClr val="1F1E1E"/>
                </a:solidFill>
                <a:latin typeface="TAN Mon Cheri"/>
                <a:ea typeface="TAN Mon Cheri"/>
                <a:cs typeface="TAN Mon Cheri"/>
                <a:sym typeface="+mn-ea"/>
              </a:rPr>
              <a:t>iangwe</a:t>
            </a:r>
            <a:r>
              <a:rPr lang="en-US" altLang="zh-CN" sz="4400" b="1">
                <a:solidFill>
                  <a:srgbClr val="1F1E1E"/>
                </a:solidFill>
                <a:latin typeface="TAN Mon Cheri"/>
                <a:ea typeface="TAN Mon Cheri"/>
                <a:cs typeface="TAN Mon Cheri"/>
                <a:sym typeface="+mn-ea"/>
              </a:rPr>
              <a:t>i Wang</a:t>
            </a:r>
            <a:endParaRPr lang="en-US" altLang="zh-CN" sz="4400" b="1">
              <a:solidFill>
                <a:srgbClr val="1F1E1E"/>
              </a:solidFill>
              <a:latin typeface="TAN Mon Cheri"/>
              <a:ea typeface="TAN Mon Cheri"/>
              <a:cs typeface="TAN Mon Cheri"/>
              <a:sym typeface="+mn-ea"/>
            </a:endParaRPr>
          </a:p>
          <a:p>
            <a:pPr lvl="0" algn="ctr">
              <a:lnSpc>
                <a:spcPts val="8365"/>
              </a:lnSpc>
              <a:buClrTx/>
              <a:buSzTx/>
              <a:buFontTx/>
            </a:pPr>
            <a:r>
              <a:rPr lang="en-US" altLang="zh-CN" sz="4400" b="1">
                <a:solidFill>
                  <a:srgbClr val="1F1E1E"/>
                </a:solidFill>
                <a:latin typeface="TAN Mon Cheri"/>
                <a:ea typeface="TAN Mon Cheri"/>
                <a:cs typeface="TAN Mon Cheri"/>
                <a:sym typeface="+mn-ea"/>
              </a:rPr>
              <a:t>University of Florida</a:t>
            </a:r>
            <a:endParaRPr lang="en-US" altLang="zh-CN" sz="4400" b="1">
              <a:solidFill>
                <a:srgbClr val="1F1E1E"/>
              </a:solidFill>
              <a:latin typeface="TAN Mon Cheri"/>
              <a:ea typeface="TAN Mon Cheri"/>
              <a:cs typeface="TAN Mon Cheri"/>
              <a:sym typeface="+mn-ea"/>
            </a:endParaRPr>
          </a:p>
          <a:p>
            <a:pPr lvl="0" algn="ctr">
              <a:lnSpc>
                <a:spcPts val="8365"/>
              </a:lnSpc>
              <a:buClrTx/>
              <a:buSzTx/>
              <a:buFontTx/>
            </a:pPr>
            <a:r>
              <a:rPr lang="en-US" altLang="zh-CN" sz="4400" b="1">
                <a:solidFill>
                  <a:srgbClr val="1F1E1E"/>
                </a:solidFill>
                <a:latin typeface="TAN Mon Cheri"/>
                <a:ea typeface="TAN Mon Cheri"/>
                <a:cs typeface="TAN Mon Cheri"/>
                <a:sym typeface="+mn-ea"/>
              </a:rPr>
              <a:t>jiangweiwang@ufl.edu</a:t>
            </a:r>
            <a:endParaRPr lang="en-US" altLang="zh-CN" sz="4400" b="1">
              <a:solidFill>
                <a:srgbClr val="1F1E1E"/>
              </a:solidFill>
              <a:latin typeface="TAN Mon Cheri"/>
              <a:ea typeface="TAN Mon Cheri"/>
              <a:cs typeface="TAN Mon Cheri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9552280" y="8074790"/>
            <a:ext cx="891992" cy="891992"/>
          </a:xfrm>
          <a:custGeom>
            <a:avLst/>
            <a:gdLst/>
            <a:ahLst/>
            <a:cxnLst/>
            <a:rect l="l" t="t" r="r" b="b"/>
            <a:pathLst>
              <a:path w="891992" h="891992">
                <a:moveTo>
                  <a:pt x="0" y="0"/>
                </a:moveTo>
                <a:lnTo>
                  <a:pt x="891992" y="0"/>
                </a:lnTo>
                <a:lnTo>
                  <a:pt x="891992" y="891992"/>
                </a:lnTo>
                <a:lnTo>
                  <a:pt x="0" y="8919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19493" y="952364"/>
            <a:ext cx="5706397" cy="43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altLang="zh-CN" sz="4000" b="1">
                <a:solidFill>
                  <a:srgbClr val="2C2A2B"/>
                </a:solidFill>
                <a:latin typeface="TAN Mon Cheri"/>
                <a:ea typeface="TAN Mon Cheri"/>
                <a:cs typeface="TAN Mon Cheri"/>
                <a:sym typeface="TAN Mon Cheri"/>
              </a:rPr>
              <a:t>Problem</a:t>
            </a:r>
            <a:endParaRPr lang="en-US" altLang="zh-CN" sz="4000" b="1">
              <a:solidFill>
                <a:srgbClr val="2C2A2B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2476500"/>
            <a:ext cx="15930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/>
              <a:t>Hybrid Permit Data Normalization</a:t>
            </a:r>
            <a:endParaRPr lang="zh-CN" altLang="en-US" sz="5400"/>
          </a:p>
        </p:txBody>
      </p:sp>
      <p:sp>
        <p:nvSpPr>
          <p:cNvPr id="3" name="文本框 2"/>
          <p:cNvSpPr txBox="1"/>
          <p:nvPr/>
        </p:nvSpPr>
        <p:spPr>
          <a:xfrm>
            <a:off x="1143000" y="3848735"/>
            <a:ext cx="1727962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4800"/>
          </a:p>
          <a:p>
            <a:r>
              <a:rPr lang="en-US" altLang="zh-CN" sz="4800"/>
              <a:t>• Noisy and inconsistent permit labels  </a:t>
            </a:r>
            <a:endParaRPr lang="en-US" altLang="zh-CN" sz="4800"/>
          </a:p>
          <a:p>
            <a:r>
              <a:rPr lang="en-US" altLang="zh-CN" sz="4800"/>
              <a:t>• Rule-based methods fail on ambiguous cases  </a:t>
            </a:r>
            <a:endParaRPr lang="en-US" altLang="zh-CN" sz="4800"/>
          </a:p>
          <a:p>
            <a:r>
              <a:rPr lang="en-US" altLang="zh-CN" sz="4800"/>
              <a:t>• Need semantic understanding for better normalization  </a:t>
            </a:r>
            <a:endParaRPr lang="en-US" altLang="zh-CN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-609743" y="800461"/>
            <a:ext cx="5706397" cy="43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altLang="zh-CN" sz="4000" b="1">
                <a:solidFill>
                  <a:srgbClr val="2C2A2B"/>
                </a:solidFill>
                <a:latin typeface="TAN Mon Cheri"/>
                <a:ea typeface="TAN Mon Cheri"/>
                <a:cs typeface="TAN Mon Cheri"/>
                <a:sym typeface="TAN Mon Cheri"/>
              </a:rPr>
              <a:t>Method</a:t>
            </a:r>
            <a:endParaRPr lang="en-US" altLang="zh-CN" sz="4000" b="1">
              <a:solidFill>
                <a:srgbClr val="2C2A2B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25" name="Freeform 25"/>
          <p:cNvSpPr/>
          <p:nvPr>
            <p:custDataLst>
              <p:tags r:id="rId1"/>
            </p:custDataLst>
          </p:nvPr>
        </p:nvSpPr>
        <p:spPr>
          <a:xfrm>
            <a:off x="685800" y="8420735"/>
            <a:ext cx="1384935" cy="1229995"/>
          </a:xfrm>
          <a:custGeom>
            <a:avLst/>
            <a:gdLst/>
            <a:ahLst/>
            <a:cxnLst/>
            <a:rect l="l" t="t" r="r" b="b"/>
            <a:pathLst>
              <a:path w="442427" h="442427">
                <a:moveTo>
                  <a:pt x="0" y="0"/>
                </a:moveTo>
                <a:lnTo>
                  <a:pt x="442427" y="0"/>
                </a:lnTo>
                <a:lnTo>
                  <a:pt x="442427" y="442428"/>
                </a:lnTo>
                <a:lnTo>
                  <a:pt x="0" y="442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>
            <p:custDataLst>
              <p:tags r:id="rId4"/>
            </p:custDataLst>
          </p:nvPr>
        </p:nvSpPr>
        <p:spPr>
          <a:xfrm>
            <a:off x="15011400" y="8420735"/>
            <a:ext cx="1670050" cy="1229995"/>
          </a:xfrm>
          <a:custGeom>
            <a:avLst/>
            <a:gdLst/>
            <a:ahLst/>
            <a:cxnLst/>
            <a:rect l="l" t="t" r="r" b="b"/>
            <a:pathLst>
              <a:path w="442427" h="442427">
                <a:moveTo>
                  <a:pt x="0" y="0"/>
                </a:moveTo>
                <a:lnTo>
                  <a:pt x="442428" y="0"/>
                </a:lnTo>
                <a:lnTo>
                  <a:pt x="442428" y="442428"/>
                </a:lnTo>
                <a:lnTo>
                  <a:pt x="0" y="442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2971800" y="5525135"/>
            <a:ext cx="9144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/>
              <a:t>Main:</a:t>
            </a:r>
            <a:endParaRPr lang="en-US" altLang="zh-CN" sz="4000"/>
          </a:p>
          <a:p>
            <a:r>
              <a:rPr lang="en-US" altLang="zh-CN" sz="4000"/>
              <a:t>• Rule-based for high-confidence cases  </a:t>
            </a:r>
            <a:endParaRPr lang="en-US" altLang="zh-CN" sz="4000"/>
          </a:p>
          <a:p>
            <a:r>
              <a:rPr lang="en-US" altLang="zh-CN" sz="4000"/>
              <a:t>• Navigator AI for ambiguous cases  </a:t>
            </a:r>
            <a:endParaRPr lang="en-US" altLang="zh-CN" sz="4000"/>
          </a:p>
          <a:p>
            <a:r>
              <a:rPr lang="en-US" altLang="zh-CN" sz="4000"/>
              <a:t>• Cost-aware: AI used selectively  </a:t>
            </a:r>
            <a:endParaRPr lang="zh-CN" altLang="en-US" sz="4000"/>
          </a:p>
        </p:txBody>
      </p:sp>
      <p:sp>
        <p:nvSpPr>
          <p:cNvPr id="3" name="文本框 2"/>
          <p:cNvSpPr txBox="1"/>
          <p:nvPr/>
        </p:nvSpPr>
        <p:spPr>
          <a:xfrm>
            <a:off x="609600" y="1943735"/>
            <a:ext cx="1776539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800"/>
              <a:t>1. Raw Label </a:t>
            </a:r>
            <a:r>
              <a:rPr lang="en-US" altLang="en-US" sz="4800"/>
              <a:t>→</a:t>
            </a:r>
            <a:r>
              <a:rPr lang="en-US" altLang="zh-CN" sz="4800"/>
              <a:t> Rules- baseline </a:t>
            </a:r>
            <a:r>
              <a:rPr lang="en-US" altLang="en-US" sz="4800"/>
              <a:t>→</a:t>
            </a:r>
            <a:r>
              <a:rPr lang="en-US" altLang="zh-CN" sz="4800"/>
              <a:t> [Easy </a:t>
            </a:r>
            <a:r>
              <a:rPr lang="en-US" altLang="en-US" sz="4800"/>
              <a:t>✔</a:t>
            </a:r>
            <a:r>
              <a:rPr lang="en-US" altLang="zh-CN" sz="4800"/>
              <a:t>] </a:t>
            </a:r>
            <a:r>
              <a:rPr lang="en-US" altLang="en-US" sz="4800"/>
              <a:t>→</a:t>
            </a:r>
            <a:r>
              <a:rPr lang="en-US" altLang="zh-CN" sz="4800"/>
              <a:t> Output  </a:t>
            </a:r>
            <a:endParaRPr lang="en-US" altLang="zh-CN" sz="4800"/>
          </a:p>
          <a:p>
            <a:r>
              <a:rPr lang="en-US" altLang="zh-CN" sz="4800"/>
              <a:t>                                </a:t>
            </a:r>
            <a:r>
              <a:rPr lang="en-US" altLang="en-US" sz="4800"/>
              <a:t>↓</a:t>
            </a:r>
            <a:r>
              <a:rPr lang="en-US" altLang="zh-CN" sz="4800"/>
              <a:t>  </a:t>
            </a:r>
            <a:endParaRPr lang="en-US" altLang="zh-CN" sz="4800"/>
          </a:p>
          <a:p>
            <a:r>
              <a:rPr lang="en-US" altLang="zh-CN" sz="4800">
                <a:sym typeface="+mn-ea"/>
              </a:rPr>
              <a:t>2. Raw Label</a:t>
            </a:r>
            <a:r>
              <a:rPr lang="en-US" altLang="zh-CN" sz="4800"/>
              <a:t> </a:t>
            </a:r>
            <a:r>
              <a:rPr lang="en-US" altLang="en-US" sz="4800">
                <a:sym typeface="+mn-ea"/>
              </a:rPr>
              <a:t>→</a:t>
            </a:r>
            <a:r>
              <a:rPr lang="en-US" altLang="zh-CN" sz="4800"/>
              <a:t> hybird pipeline</a:t>
            </a:r>
            <a:r>
              <a:rPr lang="en-US" altLang="en-US" sz="4800">
                <a:sym typeface="+mn-ea"/>
              </a:rPr>
              <a:t>→</a:t>
            </a:r>
            <a:r>
              <a:rPr lang="en-US" altLang="zh-CN" sz="4800">
                <a:sym typeface="+mn-ea"/>
              </a:rPr>
              <a:t> </a:t>
            </a:r>
            <a:r>
              <a:rPr lang="en-US" altLang="zh-CN" sz="4800"/>
              <a:t> [Hard</a:t>
            </a:r>
            <a:r>
              <a:rPr lang="en-US" altLang="en-US" sz="4800"/>
              <a:t>❗</a:t>
            </a:r>
            <a:r>
              <a:rPr lang="en-US" altLang="zh-CN" sz="4800"/>
              <a:t>] </a:t>
            </a:r>
            <a:r>
              <a:rPr lang="en-US" altLang="en-US" sz="4800"/>
              <a:t>→</a:t>
            </a:r>
            <a:r>
              <a:rPr lang="en-US" altLang="zh-CN" sz="4800"/>
              <a:t> Navigator AI </a:t>
            </a:r>
            <a:r>
              <a:rPr lang="en-US" altLang="en-US" sz="4800"/>
              <a:t>→</a:t>
            </a:r>
            <a:r>
              <a:rPr lang="en-US" altLang="zh-CN" sz="4800"/>
              <a:t> Output</a:t>
            </a:r>
            <a:endParaRPr lang="zh-CN" altLang="en-US"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657" y="876396"/>
            <a:ext cx="5706397" cy="43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altLang="zh-CN" sz="4000" b="1">
                <a:solidFill>
                  <a:srgbClr val="2C2A2B"/>
                </a:solidFill>
                <a:latin typeface="TAN Mon Cheri"/>
                <a:ea typeface="TAN Mon Cheri"/>
                <a:cs typeface="TAN Mon Cheri"/>
                <a:sym typeface="TAN Mon Cheri"/>
              </a:rPr>
              <a:t>Results + Demo</a:t>
            </a:r>
            <a:endParaRPr lang="en-US" altLang="zh-CN" sz="4000" b="1">
              <a:solidFill>
                <a:srgbClr val="2C2A2B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4400" y="2934335"/>
            <a:ext cx="1588198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/>
              <a:t>Hybrid pipeline outperforms the rule-only baseline on both evaluation sets</a:t>
            </a:r>
            <a:endParaRPr lang="en-US" altLang="zh-CN" sz="4000"/>
          </a:p>
          <a:p>
            <a:r>
              <a:rPr lang="en-US" altLang="zh-CN" sz="4000"/>
              <a:t>500-record set: accuracy improves from 70.0% to 85.6%</a:t>
            </a:r>
            <a:endParaRPr lang="en-US" altLang="zh-CN" sz="4000"/>
          </a:p>
          <a:p>
            <a:r>
              <a:rPr lang="en-US" altLang="zh-CN" sz="4000"/>
              <a:t>1000-record set: accuracy improves from 68.5% to 94.3%</a:t>
            </a:r>
            <a:endParaRPr lang="en-US" altLang="zh-CN" sz="4000"/>
          </a:p>
          <a:p>
            <a:r>
              <a:rPr lang="en-US" altLang="zh-CN" sz="4000"/>
              <a:t>Largest gains come from ambiguous labels that rules often map to “other”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3352800" y="7353935"/>
            <a:ext cx="9144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/>
              <a:t>Demo: example + pipeline + results</a:t>
            </a:r>
            <a:endParaRPr lang="en-US" altLang="zh-CN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0899" y="4306015"/>
            <a:ext cx="7743392" cy="43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4000" b="1">
                <a:solidFill>
                  <a:srgbClr val="2C2A2B"/>
                </a:solidFill>
                <a:latin typeface="TAN Mon Cheri"/>
                <a:ea typeface="TAN Mon Cheri"/>
                <a:cs typeface="TAN Mon Cheri"/>
                <a:sym typeface="TAN Mon Cheri"/>
              </a:rPr>
              <a:t>Thank </a:t>
            </a:r>
            <a:r>
              <a:rPr lang="en-US" sz="4000" b="1">
                <a:solidFill>
                  <a:srgbClr val="2C2A2B"/>
                </a:solidFill>
                <a:latin typeface="TAN Mon Cheri"/>
                <a:ea typeface="TAN Mon Cheri"/>
                <a:cs typeface="TAN Mon Cheri"/>
                <a:sym typeface="TAN Mon Cheri"/>
              </a:rPr>
              <a:t>you!</a:t>
            </a:r>
            <a:endParaRPr lang="zh-CN" altLang="en-US" sz="4000" b="1">
              <a:solidFill>
                <a:srgbClr val="2C2A2B"/>
              </a:solidFill>
              <a:latin typeface="TAN Mon Cheri"/>
              <a:ea typeface="宋体" panose="02010600030101010101" pitchFamily="2" charset="-122"/>
              <a:cs typeface="TAN Mon Cheri"/>
              <a:sym typeface="TAN Mon Cher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7.999842519685,&quot;left&quot;:236.3547244094488,&quot;top&quot;:213.87173228346455,&quot;width&quot;:967.2906299212597}"/>
</p:tagLst>
</file>

<file path=ppt/tags/tag2.xml><?xml version="1.0" encoding="utf-8"?>
<p:tagLst xmlns:p="http://schemas.openxmlformats.org/presentationml/2006/main">
  <p:tag name="KSO_WM_DIAGRAM_VIRTUALLY_FRAME" val="{&quot;height&quot;:437.999842519685,&quot;left&quot;:236.3547244094488,&quot;top&quot;:213.87173228346455,&quot;width&quot;:967.290629921259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WPS 演示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TAN Mon Cheri</vt:lpstr>
      <vt:lpstr>Segoe Print</vt:lpstr>
      <vt:lpstr>Inter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Jovian</cp:lastModifiedBy>
  <cp:revision>5</cp:revision>
  <dcterms:created xsi:type="dcterms:W3CDTF">2006-08-16T00:00:00Z</dcterms:created>
  <dcterms:modified xsi:type="dcterms:W3CDTF">2026-04-19T20:50:03Z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557F4A5DE85C4BFC90AEC80DBA4B7DED_12</vt:lpwstr>
  </property>
  <property fmtid="{D5CDD505-2E9C-101B-9397-08002B2CF9AE}" pid="3" name="KSOProductBuildVer">
    <vt:lpwstr>2052-12.1.0.25225</vt:lpwstr>
  </property>
</Properties>
</file>